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93" r:id="rId13"/>
    <p:sldId id="262" r:id="rId14"/>
    <p:sldId id="292" r:id="rId15"/>
    <p:sldId id="294" r:id="rId16"/>
    <p:sldId id="279" r:id="rId17"/>
    <p:sldId id="29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E4E6-1397-108D-D431-D68784FE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B51C6-9837-DD97-60C5-79F4917E4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59D2C-77F6-2609-00AE-383E5372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222B-D6CD-9AE8-A22A-6D493EA0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21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E687-7E75-110F-19E8-430F355C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A27CA-C1CB-708E-BEDC-A9FA9D89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D0707-576B-D27E-9E85-201479E70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9AD6F-41D2-E0DE-FD21-3061C54CB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40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3803-7239-3550-4D68-86551B8E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B235F-4A5F-89D6-805D-53913F301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5489C-B758-C815-8649-60068673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BBD4-75A5-459F-363C-ECFC652D9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531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MIST</a:t>
            </a:r>
            <a:br>
              <a:rPr lang="en-US" dirty="0"/>
            </a:br>
            <a:r>
              <a:rPr lang="en-US" sz="4000" dirty="0"/>
              <a:t>By eric, will and zemmat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Front-End</a:t>
            </a:r>
          </a:p>
          <a:p>
            <a:r>
              <a:rPr lang="en-US" dirty="0"/>
              <a:t>Back-End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Security Threat Surfaces</a:t>
            </a:r>
          </a:p>
          <a:p>
            <a:r>
              <a:rPr lang="en-US" dirty="0"/>
              <a:t>Secure Coding Implementations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Front-End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034" y="285706"/>
            <a:ext cx="2613931" cy="521395"/>
          </a:xfrm>
        </p:spPr>
        <p:txBody>
          <a:bodyPr>
            <a:noAutofit/>
          </a:bodyPr>
          <a:lstStyle/>
          <a:p>
            <a:r>
              <a:rPr lang="en-CA" sz="2800" b="0" dirty="0"/>
              <a:t>Login form: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9682" y="166806"/>
            <a:ext cx="2815674" cy="759196"/>
          </a:xfrm>
        </p:spPr>
        <p:txBody>
          <a:bodyPr/>
          <a:lstStyle/>
          <a:p>
            <a:r>
              <a:rPr lang="en-US" sz="2800" dirty="0"/>
              <a:t>SEARCH FORM:</a:t>
            </a:r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-43200" y="0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EF95106-0B6A-A2DB-3AAD-5EB48CF90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32" y="807101"/>
            <a:ext cx="4076118" cy="2772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C0CAD4-67F5-7082-D3F0-F0A855C5B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634" y="3579809"/>
            <a:ext cx="2960730" cy="3158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199ED7-B60A-53B8-7336-22D7B078A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139" y="807101"/>
            <a:ext cx="3871720" cy="305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2485052" cy="45682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Login form: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9324" y="1352939"/>
            <a:ext cx="659765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To ensure a secure authentication process, the login system employs comprehensive input scrubbing and output sanitization to defend against XSS and SQL injection. Additionally, integrated rate limiting protects the infrastructure from automated brute-force attacks.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B080DA-A3EF-EC26-C5CC-B25AE7768605}"/>
              </a:ext>
            </a:extLst>
          </p:cNvPr>
          <p:cNvSpPr txBox="1">
            <a:spLocks/>
          </p:cNvSpPr>
          <p:nvPr/>
        </p:nvSpPr>
        <p:spPr>
          <a:xfrm>
            <a:off x="762001" y="3638939"/>
            <a:ext cx="2485052" cy="4568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search form: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AC83FA-E57D-6AAA-AB7F-178F94F027E7}"/>
              </a:ext>
            </a:extLst>
          </p:cNvPr>
          <p:cNvSpPr txBox="1">
            <a:spLocks/>
          </p:cNvSpPr>
          <p:nvPr/>
        </p:nvSpPr>
        <p:spPr>
          <a:xfrm>
            <a:off x="829324" y="4095766"/>
            <a:ext cx="6597650" cy="228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search interface maintains rigorous security standards by employing input scrubbing and output sanitization. These layers effectively mitigate XSS and SQL injection risks, ensuring a secure user experience while maintaining high-speed search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Back-End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Back End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3471366" cy="33710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Parameterized Queries</a:t>
            </a:r>
          </a:p>
          <a:p>
            <a:pPr marL="742950" lvl="1" indent="-285750"/>
            <a:r>
              <a:rPr lang="en-US" dirty="0"/>
              <a:t>Stops illegal user inputs from reaching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Focusing on Zero trust ideology</a:t>
            </a:r>
          </a:p>
          <a:p>
            <a:pPr marL="742950" lvl="1" indent="-285750"/>
            <a:r>
              <a:rPr lang="en-US" dirty="0"/>
              <a:t>Each layer of the system has security layers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66E859-3F3D-9360-C237-79A0496F7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91" y="2925248"/>
            <a:ext cx="6774100" cy="195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Back End - Hashing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57761" y="2046989"/>
            <a:ext cx="6249726" cy="2039341"/>
          </a:xfrm>
        </p:spPr>
        <p:txBody>
          <a:bodyPr>
            <a:normAutofit/>
          </a:bodyPr>
          <a:lstStyle/>
          <a:p>
            <a:r>
              <a:rPr lang="en-US" dirty="0"/>
              <a:t>Hashes password </a:t>
            </a:r>
          </a:p>
          <a:p>
            <a:pPr lvl="1"/>
            <a:r>
              <a:rPr lang="en-US" dirty="0"/>
              <a:t>Hashes password right after register was successful.</a:t>
            </a:r>
          </a:p>
          <a:p>
            <a:pPr lvl="1"/>
            <a:r>
              <a:rPr lang="en-US" dirty="0"/>
              <a:t>Uses built in .NET hash to keep project within time scope</a:t>
            </a:r>
          </a:p>
          <a:p>
            <a:r>
              <a:rPr lang="en-US" dirty="0"/>
              <a:t>Saves new account after all checks pass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FD756C-5E5B-4197-A938-367205D99F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898170" y="4255168"/>
            <a:ext cx="7134308" cy="17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F0CC-B03D-58F7-77E7-67F3C469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9C2D-872B-B203-CF3C-1CAE3532A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9006-48EF-7CB2-B7C9-FBE52B52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1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/>
              <a:t>Database - Hashing​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/>
          <a:p>
            <a:r>
              <a:rPr lang="en-US" dirty="0"/>
              <a:t>Stores passwords hashed on the database</a:t>
            </a:r>
          </a:p>
          <a:p>
            <a:pPr lvl="1"/>
            <a:r>
              <a:rPr lang="en-US" dirty="0"/>
              <a:t>Keeps employees and attackers from easily stealing passwords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D127D-D759-FEE2-4B97-4B5654D2A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836" y="1978266"/>
            <a:ext cx="7765936" cy="74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Database - Logging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8836" y="2351095"/>
            <a:ext cx="10240377" cy="2058853"/>
          </a:xfrm>
        </p:spPr>
        <p:txBody>
          <a:bodyPr/>
          <a:lstStyle/>
          <a:p>
            <a:r>
              <a:rPr lang="en-US" dirty="0"/>
              <a:t>This are sample code that sends small logs to the server using both nonuser tied actions</a:t>
            </a:r>
          </a:p>
          <a:p>
            <a:pPr lvl="1"/>
            <a:r>
              <a:rPr lang="en-US" dirty="0"/>
              <a:t>The title and description are implemented based on the location of the log and item</a:t>
            </a:r>
          </a:p>
          <a:p>
            <a:pPr lvl="1"/>
            <a:r>
              <a:rPr lang="en-US" dirty="0"/>
              <a:t>Allows database managers to see actions taken within the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AB023B-D112-532B-FF09-43E758B6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23" y="5314367"/>
            <a:ext cx="9878804" cy="1095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9C547B-6DCC-87AD-6D17-EF4A9E8A6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623" y="4476050"/>
            <a:ext cx="9878804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DD9F-4725-4C58-FC40-2A8AB77A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5F0D-D10E-8672-16D5-70BB4B49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Security Threat Surfaces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A8F7-2FF6-73E7-9E54-7A8873AB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8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C4A561EA-F53E-EAE7-2A51-D0318C1F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396" y="606863"/>
            <a:ext cx="7493437" cy="680761"/>
          </a:xfrm>
        </p:spPr>
        <p:txBody>
          <a:bodyPr>
            <a:normAutofit/>
          </a:bodyPr>
          <a:lstStyle/>
          <a:p>
            <a:r>
              <a:rPr lang="en-US" sz="2800" dirty="0"/>
              <a:t>Security Threat Surfaces</a:t>
            </a:r>
          </a:p>
        </p:txBody>
      </p:sp>
      <p:graphicFrame>
        <p:nvGraphicFramePr>
          <p:cNvPr id="16" name="Table Placeholder 13">
            <a:extLst>
              <a:ext uri="{FF2B5EF4-FFF2-40B4-BE49-F238E27FC236}">
                <a16:creationId xmlns:a16="http://schemas.microsoft.com/office/drawing/2014/main" id="{D361AA6B-EF42-2B55-F8D5-CC740D5B44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88160"/>
              </p:ext>
            </p:extLst>
          </p:nvPr>
        </p:nvGraphicFramePr>
        <p:xfrm>
          <a:off x="1081396" y="1287624"/>
          <a:ext cx="10666412" cy="430180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14374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2070628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181120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2390197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  <a:gridCol w="2880011">
                  <a:extLst>
                    <a:ext uri="{9D8B030D-6E8A-4147-A177-3AD203B41FA5}">
                      <a16:colId xmlns:a16="http://schemas.microsoft.com/office/drawing/2014/main" val="3594745868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Surface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STRIDE Category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OWASP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Threat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</a:rPr>
                        <a:t>Secure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Login Fields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Information Disclosur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A03: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</a:rPr>
                        <a:t>Attacker uses ; or &lt;&gt; to run database commands or steal user data.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Input Scrubbing:</a:t>
                      </a:r>
                      <a:r>
                        <a:rPr lang="en-US" dirty="0"/>
                        <a:t> Regex removes illegal characters.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Error Messages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Information Disclosure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A09:Security Logging/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Error messages reveal specific details about the database structure.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Output Sanitization:</a:t>
                      </a:r>
                      <a:r>
                        <a:rPr lang="en-US" dirty="0"/>
                        <a:t> Vague "Invalid Login" messages to hide business logic.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API Endpoints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Denial of Service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A04: Insecure Design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Flooding the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/login</a:t>
                      </a:r>
                      <a:r>
                        <a:rPr lang="en-US" dirty="0"/>
                        <a:t> route with thousands of requests to crash the server.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Rate Limiting:</a:t>
                      </a:r>
                      <a:r>
                        <a:rPr lang="en-US" dirty="0"/>
                        <a:t> 30-second lockout after 5 failed attempts.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9027-6748-C5C9-1638-243D7E19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26C547-A731-E5D0-AB52-43CA3E4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CB6C0BC4-9357-B71C-D5DA-7BADFFD5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396" y="606863"/>
            <a:ext cx="7493437" cy="680761"/>
          </a:xfrm>
        </p:spPr>
        <p:txBody>
          <a:bodyPr>
            <a:normAutofit/>
          </a:bodyPr>
          <a:lstStyle/>
          <a:p>
            <a:r>
              <a:rPr lang="en-US" sz="2800" dirty="0"/>
              <a:t>Security Threat Surfaces</a:t>
            </a:r>
          </a:p>
        </p:txBody>
      </p:sp>
      <p:graphicFrame>
        <p:nvGraphicFramePr>
          <p:cNvPr id="16" name="Table Placeholder 13">
            <a:extLst>
              <a:ext uri="{FF2B5EF4-FFF2-40B4-BE49-F238E27FC236}">
                <a16:creationId xmlns:a16="http://schemas.microsoft.com/office/drawing/2014/main" id="{84E9B22A-1950-E4A0-CD75-117AE97CC7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555127"/>
              </p:ext>
            </p:extLst>
          </p:nvPr>
        </p:nvGraphicFramePr>
        <p:xfrm>
          <a:off x="1081396" y="1287624"/>
          <a:ext cx="10666412" cy="485044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14374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2070628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181120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2390197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  <a:gridCol w="2880011">
                  <a:extLst>
                    <a:ext uri="{9D8B030D-6E8A-4147-A177-3AD203B41FA5}">
                      <a16:colId xmlns:a16="http://schemas.microsoft.com/office/drawing/2014/main" val="3594745868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Surface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STRIDE Category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OWASP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Threat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</a:rPr>
                        <a:t>Secure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Password Logic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b="0" dirty="0"/>
                        <a:t>E</a:t>
                      </a:r>
                      <a:r>
                        <a:rPr lang="en-CA" dirty="0"/>
                        <a:t>levation of Privilege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A07: Ident. &amp; Auth.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Using weak passwords or plain-text storage allows account takeover.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Complexity Rules:</a:t>
                      </a:r>
                      <a:r>
                        <a:rPr lang="en-US" dirty="0"/>
                        <a:t> 10 chars + 5 symbols; Password hashing before DB storage.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User Session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b="0" dirty="0"/>
                        <a:t>T</a:t>
                      </a:r>
                      <a:r>
                        <a:rPr lang="en-CA" dirty="0"/>
                        <a:t>ampering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A01:Broken 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User manually changes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localStorage</a:t>
                      </a:r>
                      <a:r>
                        <a:rPr lang="en-US" dirty="0"/>
                        <a:t> to "buy" games without paying.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Server-Side Validation:</a:t>
                      </a:r>
                      <a:r>
                        <a:rPr lang="en-US" dirty="0"/>
                        <a:t> The API/DB should verify ownership, not the browser.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Registration Form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b="0" dirty="0"/>
                        <a:t>S</a:t>
                      </a:r>
                      <a:r>
                        <a:rPr lang="en-CA" dirty="0"/>
                        <a:t>poofing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A07: Ident. &amp; Auth.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Creating fake accounts to flood the system with "Canadian" users for lower prices.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Input Validation: </a:t>
                      </a:r>
                    </a:p>
                    <a:p>
                      <a:pPr algn="l" rtl="0" fontAlgn="base"/>
                      <a:r>
                        <a:rPr lang="en-US" dirty="0"/>
                        <a:t>Verifying email formats and restricting country options.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219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Eric Moutoux </a:t>
            </a:r>
          </a:p>
          <a:p>
            <a:r>
              <a:rPr lang="en-US" dirty="0"/>
              <a:t>Will Jessel</a:t>
            </a:r>
          </a:p>
          <a:p>
            <a:r>
              <a:rPr lang="en-US" dirty="0"/>
              <a:t>Zemmat Hagos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{AF7617A5-88DB-41F9-A404-847E3E9F9B2A}TF55c86556-70ea-476e-aa05-13a38f2d5b0da1381d77_win32-a3c664429073</Template>
  <TotalTime>147</TotalTime>
  <Words>491</Words>
  <Application>Microsoft Office PowerPoint</Application>
  <PresentationFormat>Widescreen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Calibri</vt:lpstr>
      <vt:lpstr>Custom</vt:lpstr>
      <vt:lpstr>MIST By eric, will and zemmat</vt:lpstr>
      <vt:lpstr>Agenda</vt:lpstr>
      <vt:lpstr>Front-End</vt:lpstr>
      <vt:lpstr>Login form:</vt:lpstr>
      <vt:lpstr>Login form:</vt:lpstr>
      <vt:lpstr>Back-End</vt:lpstr>
      <vt:lpstr>Back End </vt:lpstr>
      <vt:lpstr>Back End - Hashing</vt:lpstr>
      <vt:lpstr>Database</vt:lpstr>
      <vt:lpstr>Database - Hashing​</vt:lpstr>
      <vt:lpstr>Database - Logging</vt:lpstr>
      <vt:lpstr>Security Threat Surfaces</vt:lpstr>
      <vt:lpstr>Security Threat Surfaces</vt:lpstr>
      <vt:lpstr>Security Threat Surfaces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Jessel</dc:creator>
  <cp:lastModifiedBy>Eric Moutoux</cp:lastModifiedBy>
  <cp:revision>4</cp:revision>
  <dcterms:created xsi:type="dcterms:W3CDTF">2026-04-16T03:51:54Z</dcterms:created>
  <dcterms:modified xsi:type="dcterms:W3CDTF">2026-04-16T20:39:07Z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