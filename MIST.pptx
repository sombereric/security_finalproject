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256" r:id="rId5"/>
    <p:sldId id="277" r:id="rId6"/>
    <p:sldId id="258" r:id="rId7"/>
    <p:sldId id="290" r:id="rId8"/>
    <p:sldId id="264" r:id="rId9"/>
    <p:sldId id="291" r:id="rId10"/>
    <p:sldId id="268" r:id="rId11"/>
    <p:sldId id="286" r:id="rId12"/>
    <p:sldId id="293" r:id="rId13"/>
    <p:sldId id="262" r:id="rId14"/>
    <p:sldId id="292" r:id="rId15"/>
    <p:sldId id="294" r:id="rId16"/>
    <p:sldId id="279" r:id="rId17"/>
    <p:sldId id="298" r:id="rId18"/>
    <p:sldId id="295" r:id="rId19"/>
    <p:sldId id="296" r:id="rId20"/>
    <p:sldId id="297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204" autoAdjust="0"/>
  </p:normalViewPr>
  <p:slideViewPr>
    <p:cSldViewPr snapToGrid="0">
      <p:cViewPr varScale="1">
        <p:scale>
          <a:sx n="103" d="100"/>
          <a:sy n="103" d="100"/>
        </p:scale>
        <p:origin x="912" y="108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4/15/2026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4/15/2026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864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77167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439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613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5605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0340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2262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6670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6E4E6-1397-108D-D431-D68784FEF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6B51C6-9837-DD97-60C5-79F4917E4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A59D2C-77F6-2609-00AE-383E53721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AD222B-D6CD-9AE8-A22A-6D493EA04D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61218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333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0324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E687-7E75-110F-19E8-430F355CF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DA27CA-C1CB-708E-BEDC-A9FA9D89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D0707-576B-D27E-9E85-201479E70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9AD6F-41D2-E0DE-FD21-3061C54CBB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47402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2914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03803-7239-3550-4D68-86551B8E5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AB235F-4A5F-89D6-805D-53913F3018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5489C-B758-C815-8649-600686731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4BBD4-75A5-459F-363C-ECFC652D9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5311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2E952-1482-5490-582C-40AE547BD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AE1475-3AD9-A30F-B74B-87D36EF7A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D166F-7D99-DD5B-2D23-40B4CD63B9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133F7-11F7-23FE-C233-0EC2FD4FDF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22629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34B3C-B464-F1DA-414F-C8377C7F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3B3316-EF51-C4C3-85FB-58349A995E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CBF61-C879-9A2F-7E17-B7AAF95D86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17F84-DD46-CBA9-D591-F835CCD001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85128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5189F-A7D4-EE42-DBDD-DFB61D0E3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9925BF-315C-E9AB-66BE-CDDF876EBF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08D1C6-4A33-5A47-F9A6-2FA09E6BB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CD86A3-CD34-71C2-6B46-CEDC45F514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9817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25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1.svg"/><Relationship Id="rId4" Type="http://schemas.openxmlformats.org/officeDocument/2006/relationships/image" Target="../media/image9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sv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881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55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C2927-0A13-DC57-A83B-B8DB787A4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00245" y="544285"/>
            <a:ext cx="5528217" cy="2685383"/>
          </a:xfrm>
        </p:spPr>
        <p:txBody>
          <a:bodyPr anchor="b">
            <a:normAutofit/>
          </a:bodyPr>
          <a:lstStyle>
            <a:lvl1pPr algn="l">
              <a:defRPr sz="44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96340" y="3423773"/>
            <a:ext cx="5528217" cy="202996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65125"/>
            <a:ext cx="10668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1825625"/>
            <a:ext cx="1066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66" r:id="rId2"/>
    <p:sldLayoutId id="2147483704" r:id="rId3"/>
    <p:sldLayoutId id="2147483702" r:id="rId4"/>
    <p:sldLayoutId id="2147483678" r:id="rId5"/>
    <p:sldLayoutId id="2147483681" r:id="rId6"/>
    <p:sldLayoutId id="2147483696" r:id="rId7"/>
    <p:sldLayoutId id="2147483691" r:id="rId8"/>
    <p:sldLayoutId id="2147483677" r:id="rId9"/>
    <p:sldLayoutId id="2147483699" r:id="rId10"/>
    <p:sldLayoutId id="2147483685" r:id="rId11"/>
    <p:sldLayoutId id="2147483676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14772" y="677918"/>
            <a:ext cx="6856292" cy="3590596"/>
          </a:xfrm>
        </p:spPr>
        <p:txBody>
          <a:bodyPr>
            <a:normAutofit/>
          </a:bodyPr>
          <a:lstStyle/>
          <a:p>
            <a:r>
              <a:rPr lang="en-US" dirty="0"/>
              <a:t>MIST</a:t>
            </a:r>
            <a:br>
              <a:rPr lang="en-US" dirty="0"/>
            </a:br>
            <a:r>
              <a:rPr lang="en-US" sz="4000" dirty="0"/>
              <a:t>By eric, will and zemmat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9F29B-F233-48AF-8261-F33A4E079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3950" y="429461"/>
            <a:ext cx="6343650" cy="2668463"/>
          </a:xfrm>
        </p:spPr>
        <p:txBody>
          <a:bodyPr>
            <a:normAutofit/>
          </a:bodyPr>
          <a:lstStyle/>
          <a:p>
            <a:r>
              <a:rPr lang="en-US" dirty="0"/>
              <a:t>Agenda</a:t>
            </a:r>
            <a:endParaRPr lang="en-Z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E3EA69-4E0E-41BD-8095-A124225A264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938713" y="3300413"/>
            <a:ext cx="6338887" cy="266858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Front-End</a:t>
            </a:r>
          </a:p>
          <a:p>
            <a:r>
              <a:rPr lang="en-US" dirty="0"/>
              <a:t>Back-End</a:t>
            </a:r>
          </a:p>
          <a:p>
            <a:r>
              <a:rPr lang="en-US" dirty="0"/>
              <a:t>Database</a:t>
            </a:r>
          </a:p>
          <a:p>
            <a:r>
              <a:rPr lang="en-US" dirty="0"/>
              <a:t>Security Threat Surfaces</a:t>
            </a:r>
          </a:p>
          <a:p>
            <a:r>
              <a:rPr lang="en-US" dirty="0"/>
              <a:t>Secure Coding Implementations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927DCA-F11F-1716-00DA-9EF49F131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34949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DE7F2-E890-4744-88DD-A75F5E3005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3694" y="660358"/>
            <a:ext cx="6594768" cy="5537284"/>
          </a:xfrm>
        </p:spPr>
        <p:txBody>
          <a:bodyPr>
            <a:normAutofit/>
          </a:bodyPr>
          <a:lstStyle/>
          <a:p>
            <a:r>
              <a:rPr lang="en-US" dirty="0"/>
              <a:t>Front-End</a:t>
            </a:r>
          </a:p>
        </p:txBody>
      </p:sp>
      <p:pic>
        <p:nvPicPr>
          <p:cNvPr id="34" name="Picture Placeholder 33" descr="Aerial view of a neon highway intersection">
            <a:extLst>
              <a:ext uri="{FF2B5EF4-FFF2-40B4-BE49-F238E27FC236}">
                <a16:creationId xmlns:a16="http://schemas.microsoft.com/office/drawing/2014/main" id="{9289CE93-EC50-55DB-CFE0-1266AEC87B1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4936" r="24936"/>
          <a:stretch/>
        </p:blipFill>
        <p:spPr>
          <a:xfrm rot="10800000">
            <a:off x="1" y="761322"/>
            <a:ext cx="4076118" cy="6096678"/>
          </a:xfrm>
        </p:spPr>
      </p:pic>
      <p:sp>
        <p:nvSpPr>
          <p:cNvPr id="31" name="Oval 30">
            <a:extLst>
              <a:ext uri="{FF2B5EF4-FFF2-40B4-BE49-F238E27FC236}">
                <a16:creationId xmlns:a16="http://schemas.microsoft.com/office/drawing/2014/main" id="{F466A906-2869-BB36-138E-D45F62E92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4646277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6186C3A-548E-AD87-3029-964123530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660400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034" y="285706"/>
            <a:ext cx="2613931" cy="521395"/>
          </a:xfrm>
        </p:spPr>
        <p:txBody>
          <a:bodyPr>
            <a:noAutofit/>
          </a:bodyPr>
          <a:lstStyle/>
          <a:p>
            <a:r>
              <a:rPr lang="en-CA" sz="2800" b="0" dirty="0"/>
              <a:t>Login form:</a:t>
            </a:r>
            <a:endParaRPr lang="en-US" sz="2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9682" y="166806"/>
            <a:ext cx="2815674" cy="759196"/>
          </a:xfrm>
        </p:spPr>
        <p:txBody>
          <a:bodyPr/>
          <a:lstStyle/>
          <a:p>
            <a:r>
              <a:rPr lang="en-US" sz="2800" dirty="0"/>
              <a:t>SEARCH FORM:</a:t>
            </a:r>
            <a:endParaRPr lang="en-US" dirty="0"/>
          </a:p>
        </p:txBody>
      </p:sp>
      <p:pic>
        <p:nvPicPr>
          <p:cNvPr id="13" name="Picture Placeholder 12" descr="Low angle view of tall buildings">
            <a:extLst>
              <a:ext uri="{FF2B5EF4-FFF2-40B4-BE49-F238E27FC236}">
                <a16:creationId xmlns:a16="http://schemas.microsoft.com/office/drawing/2014/main" id="{1DFE730E-30E7-DA99-A3EE-ACB889D161E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43" r="43"/>
          <a:stretch/>
        </p:blipFill>
        <p:spPr>
          <a:xfrm>
            <a:off x="-43200" y="0"/>
            <a:ext cx="4076118" cy="6096678"/>
          </a:xfrm>
        </p:spPr>
      </p:pic>
      <p:sp>
        <p:nvSpPr>
          <p:cNvPr id="44" name="Oval 43">
            <a:extLst>
              <a:ext uri="{FF2B5EF4-FFF2-40B4-BE49-F238E27FC236}">
                <a16:creationId xmlns:a16="http://schemas.microsoft.com/office/drawing/2014/main" id="{5F855448-57DF-E468-AF41-00CAAC2D7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5895479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52FDA21-768F-9929-E6D6-D78CD4F8E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-97971" y="1909602"/>
            <a:ext cx="4160955" cy="4149155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B36DA42-A547-F07F-C8F7-E98AF14540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0560" y="926002"/>
            <a:ext cx="3833773" cy="56543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70F6FD-2FE1-BA3D-DD5B-1F7267F1AB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4333" y="926002"/>
            <a:ext cx="4223760" cy="344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392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896112"/>
            <a:ext cx="2485052" cy="456827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Login form: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3634FE-ADF0-4BC3-A0A9-447EA9DD096B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829324" y="1352939"/>
            <a:ext cx="6597650" cy="2286000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dirty="0"/>
              <a:t>Make eye contact with your audience to create a sense of intimacy and involvement</a:t>
            </a:r>
          </a:p>
          <a:p>
            <a:r>
              <a:rPr lang="en-US" dirty="0"/>
              <a:t>Weave relatable stories into your presentation using narratives that make your message memorable and impactful</a:t>
            </a:r>
          </a:p>
          <a:p>
            <a:r>
              <a:rPr lang="en-US" dirty="0"/>
              <a:t>Encourage questions and provide thoughtful responses to enhance audience participation</a:t>
            </a:r>
          </a:p>
          <a:p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C050D-BAF4-C23C-F8EC-24DEC4293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B080DA-A3EF-EC26-C5CC-B25AE7768605}"/>
              </a:ext>
            </a:extLst>
          </p:cNvPr>
          <p:cNvSpPr txBox="1">
            <a:spLocks/>
          </p:cNvSpPr>
          <p:nvPr/>
        </p:nvSpPr>
        <p:spPr>
          <a:xfrm>
            <a:off x="762001" y="3638939"/>
            <a:ext cx="2485052" cy="456827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search form: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BAC83FA-E57D-6AAA-AB7F-178F94F027E7}"/>
              </a:ext>
            </a:extLst>
          </p:cNvPr>
          <p:cNvSpPr txBox="1">
            <a:spLocks/>
          </p:cNvSpPr>
          <p:nvPr/>
        </p:nvSpPr>
        <p:spPr>
          <a:xfrm>
            <a:off x="829324" y="4095766"/>
            <a:ext cx="6597650" cy="2286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Make eye contact with your audience to create a sense of intimacy and involvement</a:t>
            </a:r>
          </a:p>
          <a:p>
            <a:r>
              <a:rPr lang="en-US"/>
              <a:t>Weave relatable stories into your presentation using narratives that make your message memorable and impactful</a:t>
            </a:r>
          </a:p>
          <a:p>
            <a:r>
              <a:rPr lang="en-US"/>
              <a:t>Encourage questions and provide thoughtful responses to enhance audience participation</a:t>
            </a:r>
          </a:p>
          <a:p>
            <a:r>
              <a:rPr lang="en-US"/>
              <a:t>Use live polls or surveys to gather audience opinions, promoting engagement and making sure the audience feel involved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4771" y="576943"/>
            <a:ext cx="6449786" cy="2785508"/>
          </a:xfrm>
        </p:spPr>
        <p:txBody>
          <a:bodyPr>
            <a:normAutofit/>
          </a:bodyPr>
          <a:lstStyle/>
          <a:p>
            <a:r>
              <a:rPr lang="en-US" dirty="0"/>
              <a:t>Back-End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D8D8EF-09F7-2BAC-3EC4-6E8F40515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251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736" y="896112"/>
            <a:ext cx="9389288" cy="1362456"/>
          </a:xfrm>
        </p:spPr>
        <p:txBody>
          <a:bodyPr/>
          <a:lstStyle/>
          <a:p>
            <a:r>
              <a:rPr lang="en-US" dirty="0"/>
              <a:t>Effective delivery techniques​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6B31B0-7B84-475D-961F-09C0191F91A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71525" y="2590800"/>
            <a:ext cx="4514850" cy="3505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Voice modulation is a powerful tool in public speaking. It involves varying pitch, tone, and volume to convey emotion, emphasize points, and maintain interest:</a:t>
            </a:r>
          </a:p>
          <a:p>
            <a:pPr lvl="1"/>
            <a:r>
              <a:rPr lang="en-US" dirty="0"/>
              <a:t>Pitch variation​</a:t>
            </a:r>
          </a:p>
          <a:p>
            <a:pPr lvl="1"/>
            <a:r>
              <a:rPr lang="en-US" dirty="0"/>
              <a:t>Tone inflection​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3F3455-E568-40C9-9F4D-8C89F4CD95F8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646738" y="2590800"/>
            <a:ext cx="4514850" cy="3505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Effective body language enhances your message, making it more impactful and memorable: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61B51-19E8-1412-3155-39DDEAC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694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08C79-A4AC-4B5D-92DF-600737E4D1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0440" y="896111"/>
            <a:ext cx="7889768" cy="2039341"/>
          </a:xfrm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3251268-42B4-3B45-A59B-740E2DB97A0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/>
          <a:p>
            <a:r>
              <a:rPr lang="en-US" dirty="0"/>
              <a:t>Know your material in advance​</a:t>
            </a:r>
          </a:p>
          <a:p>
            <a:r>
              <a:rPr lang="en-US" dirty="0"/>
              <a:t>Anticipate common </a:t>
            </a:r>
            <a:br>
              <a:rPr lang="en-US" dirty="0"/>
            </a:br>
            <a:r>
              <a:rPr lang="en-US" dirty="0"/>
              <a:t>questions​</a:t>
            </a:r>
          </a:p>
          <a:p>
            <a:r>
              <a:rPr lang="en-US" dirty="0"/>
              <a:t>Rehearse your responses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2492136-277B-808E-9D1B-0527359207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/>
          <a:p>
            <a:r>
              <a:rPr lang="en-US" dirty="0"/>
              <a:t>Maintaining composure during the Q&amp;A session is essential for projecting confidence and authority. Consider the following tips for staying composed:​</a:t>
            </a:r>
          </a:p>
          <a:p>
            <a:pPr lvl="1"/>
            <a:r>
              <a:rPr lang="en-US" dirty="0"/>
              <a:t>Stay calm​</a:t>
            </a:r>
          </a:p>
          <a:p>
            <a:pPr lvl="1"/>
            <a:r>
              <a:rPr lang="en-US" dirty="0"/>
              <a:t>Actively listen​</a:t>
            </a:r>
          </a:p>
          <a:p>
            <a:pPr lvl="1"/>
            <a:r>
              <a:rPr lang="en-US" dirty="0"/>
              <a:t>Pause and reflect​</a:t>
            </a:r>
          </a:p>
          <a:p>
            <a:pPr lvl="1"/>
            <a:r>
              <a:rPr lang="en-US" dirty="0"/>
              <a:t>Maintain eye contact</a:t>
            </a:r>
          </a:p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3DE1AA4-0AE6-C6D5-E252-BBD5ED259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8789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F0CC-B03D-58F7-77E7-67F3C469A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B9C2D-872B-B203-CF3C-1CAE3532A7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4771" y="576943"/>
            <a:ext cx="6449786" cy="2785508"/>
          </a:xfrm>
        </p:spPr>
        <p:txBody>
          <a:bodyPr>
            <a:normAutofit/>
          </a:bodyPr>
          <a:lstStyle/>
          <a:p>
            <a:r>
              <a:rPr lang="en-US" dirty="0"/>
              <a:t>Database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B9006-48EF-7CB2-B7C9-FBE52B52E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118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31FE9-9059-4FE8-B4AC-9771F23A1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7877" y="898524"/>
            <a:ext cx="7606895" cy="2029967"/>
          </a:xfrm>
        </p:spPr>
        <p:txBody>
          <a:bodyPr/>
          <a:lstStyle/>
          <a:p>
            <a:r>
              <a:rPr lang="en-US" dirty="0"/>
              <a:t>Speaking impact​</a:t>
            </a:r>
          </a:p>
        </p:txBody>
      </p:sp>
      <p:pic>
        <p:nvPicPr>
          <p:cNvPr id="14" name="Picture Placeholder 13" descr="Woman walking in office">
            <a:extLst>
              <a:ext uri="{FF2B5EF4-FFF2-40B4-BE49-F238E27FC236}">
                <a16:creationId xmlns:a16="http://schemas.microsoft.com/office/drawing/2014/main" id="{206549BD-D8AF-D3BE-750E-5F8C50CCB5B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35913" r="35913"/>
          <a:stretch/>
        </p:blipFill>
        <p:spPr>
          <a:xfrm>
            <a:off x="1011337" y="9212"/>
            <a:ext cx="2029967" cy="4850544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7441910-6501-5C60-C05A-BAFF34C25798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/>
          <a:p>
            <a:r>
              <a:rPr lang="en-US" dirty="0"/>
              <a:t>Your ability to communicate effectively will leave a lasting impact on your audience​</a:t>
            </a:r>
          </a:p>
          <a:p>
            <a:r>
              <a:rPr lang="en-US" dirty="0"/>
              <a:t>Effectively communicating involves not only delivering a message but also resonating with the experiences, values, and emotions of those listening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C668341-39BE-4448-B29D-2594AE6D7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901853" y="2682814"/>
            <a:ext cx="274320" cy="2743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1C374B-40F2-4B1E-A9D8-6E5C932FF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0" y="2824876"/>
            <a:ext cx="2011680" cy="7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32C7587B-DD64-0940-2F6D-21C5F453F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920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0C883-7528-F9C5-D6FA-15EC059A3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896112"/>
            <a:ext cx="10668000" cy="1325563"/>
          </a:xfrm>
        </p:spPr>
        <p:txBody>
          <a:bodyPr/>
          <a:lstStyle/>
          <a:p>
            <a:r>
              <a:rPr lang="en-US" dirty="0"/>
              <a:t>Dynamic delivery​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A7E69BA-FC91-08A5-671F-B53E6E989C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2000" y="2417197"/>
            <a:ext cx="4278313" cy="3737541"/>
          </a:xfrm>
        </p:spPr>
        <p:txBody>
          <a:bodyPr/>
          <a:lstStyle/>
          <a:p>
            <a:r>
              <a:rPr lang="en-US" dirty="0"/>
              <a:t>Learn to infuse energy into your delivery to leave a lasting impression​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8" name="Table Placeholder 7">
            <a:extLst>
              <a:ext uri="{FF2B5EF4-FFF2-40B4-BE49-F238E27FC236}">
                <a16:creationId xmlns:a16="http://schemas.microsoft.com/office/drawing/2014/main" id="{24EE9911-8AC9-5BE2-4456-0175FD28D083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3554612853"/>
              </p:ext>
            </p:extLst>
          </p:nvPr>
        </p:nvGraphicFramePr>
        <p:xfrm>
          <a:off x="5241925" y="2417763"/>
          <a:ext cx="6188076" cy="3678235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695814">
                  <a:extLst>
                    <a:ext uri="{9D8B030D-6E8A-4147-A177-3AD203B41FA5}">
                      <a16:colId xmlns:a16="http://schemas.microsoft.com/office/drawing/2014/main" val="248340271"/>
                    </a:ext>
                  </a:extLst>
                </a:gridCol>
                <a:gridCol w="2052644">
                  <a:extLst>
                    <a:ext uri="{9D8B030D-6E8A-4147-A177-3AD203B41FA5}">
                      <a16:colId xmlns:a16="http://schemas.microsoft.com/office/drawing/2014/main" val="2825265259"/>
                    </a:ext>
                  </a:extLst>
                </a:gridCol>
                <a:gridCol w="1233830">
                  <a:extLst>
                    <a:ext uri="{9D8B030D-6E8A-4147-A177-3AD203B41FA5}">
                      <a16:colId xmlns:a16="http://schemas.microsoft.com/office/drawing/2014/main" val="207959087"/>
                    </a:ext>
                  </a:extLst>
                </a:gridCol>
                <a:gridCol w="1205788">
                  <a:extLst>
                    <a:ext uri="{9D8B030D-6E8A-4147-A177-3AD203B41FA5}">
                      <a16:colId xmlns:a16="http://schemas.microsoft.com/office/drawing/2014/main" val="3104692732"/>
                    </a:ext>
                  </a:extLst>
                </a:gridCol>
              </a:tblGrid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ysClr val="windowText" lastClr="000000"/>
                          </a:solidFill>
                          <a:effectLst/>
                        </a:rPr>
                        <a:t>Metric​</a:t>
                      </a:r>
                      <a:endParaRPr lang="en-US" b="1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ysClr val="windowText" lastClr="000000"/>
                          </a:solidFill>
                          <a:effectLst/>
                        </a:rPr>
                        <a:t>Measurement​</a:t>
                      </a:r>
                      <a:endParaRPr lang="en-US" b="1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ysClr val="windowText" lastClr="000000"/>
                          </a:solidFill>
                          <a:effectLst/>
                        </a:rPr>
                        <a:t>Target​</a:t>
                      </a:r>
                      <a:endParaRPr lang="en-US" b="1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ysClr val="windowText" lastClr="000000"/>
                          </a:solidFill>
                          <a:effectLst/>
                        </a:rPr>
                        <a:t>Actual​</a:t>
                      </a:r>
                      <a:endParaRPr lang="en-US" b="1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6384421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Audience </a:t>
                      </a:r>
                      <a:b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</a:br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attendance​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# of attendees​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150​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120​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3559787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Engagement duration​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Minutes​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60​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75​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4553674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Q&amp;A interaction​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# of questions​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10​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15​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1991020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Positive </a:t>
                      </a:r>
                      <a:b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</a:br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feedback​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Percentage (%)​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90​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ysClr val="windowText" lastClr="000000"/>
                          </a:solidFill>
                          <a:effectLst/>
                        </a:rPr>
                        <a:t>95​</a:t>
                      </a:r>
                      <a:endParaRPr lang="en-US" b="0" i="0" dirty="0">
                        <a:solidFill>
                          <a:sysClr val="windowText" lastClr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069432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3FE259-B742-148B-88EA-EAE84226F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678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2DD9F-4725-4C58-FC40-2A8AB77A5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F5F0D-D10E-8672-16D5-70BB4B49A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4771" y="576943"/>
            <a:ext cx="6449786" cy="2785508"/>
          </a:xfrm>
        </p:spPr>
        <p:txBody>
          <a:bodyPr>
            <a:normAutofit/>
          </a:bodyPr>
          <a:lstStyle/>
          <a:p>
            <a:r>
              <a:rPr lang="en-US" dirty="0"/>
              <a:t>Security Threat Surfaces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CA8F7-2FF6-73E7-9E54-7A8873AB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1589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40B739-30F9-C86F-67ED-2197DC1E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C4A561EA-F53E-EAE7-2A51-D0318C1F9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1396" y="606863"/>
            <a:ext cx="7493437" cy="680761"/>
          </a:xfrm>
        </p:spPr>
        <p:txBody>
          <a:bodyPr>
            <a:normAutofit/>
          </a:bodyPr>
          <a:lstStyle/>
          <a:p>
            <a:r>
              <a:rPr lang="en-US" sz="2800" dirty="0"/>
              <a:t>Security Threat Surfaces</a:t>
            </a:r>
          </a:p>
        </p:txBody>
      </p:sp>
      <p:graphicFrame>
        <p:nvGraphicFramePr>
          <p:cNvPr id="16" name="Table Placeholder 13">
            <a:extLst>
              <a:ext uri="{FF2B5EF4-FFF2-40B4-BE49-F238E27FC236}">
                <a16:creationId xmlns:a16="http://schemas.microsoft.com/office/drawing/2014/main" id="{D361AA6B-EF42-2B55-F8D5-CC740D5B441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688160"/>
              </p:ext>
            </p:extLst>
          </p:nvPr>
        </p:nvGraphicFramePr>
        <p:xfrm>
          <a:off x="1081396" y="1287624"/>
          <a:ext cx="10666412" cy="4301807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514374">
                  <a:extLst>
                    <a:ext uri="{9D8B030D-6E8A-4147-A177-3AD203B41FA5}">
                      <a16:colId xmlns:a16="http://schemas.microsoft.com/office/drawing/2014/main" val="4239035621"/>
                    </a:ext>
                  </a:extLst>
                </a:gridCol>
                <a:gridCol w="2070628">
                  <a:extLst>
                    <a:ext uri="{9D8B030D-6E8A-4147-A177-3AD203B41FA5}">
                      <a16:colId xmlns:a16="http://schemas.microsoft.com/office/drawing/2014/main" val="1645754944"/>
                    </a:ext>
                  </a:extLst>
                </a:gridCol>
                <a:gridCol w="1811202">
                  <a:extLst>
                    <a:ext uri="{9D8B030D-6E8A-4147-A177-3AD203B41FA5}">
                      <a16:colId xmlns:a16="http://schemas.microsoft.com/office/drawing/2014/main" val="4278473568"/>
                    </a:ext>
                  </a:extLst>
                </a:gridCol>
                <a:gridCol w="2390197">
                  <a:extLst>
                    <a:ext uri="{9D8B030D-6E8A-4147-A177-3AD203B41FA5}">
                      <a16:colId xmlns:a16="http://schemas.microsoft.com/office/drawing/2014/main" val="760742182"/>
                    </a:ext>
                  </a:extLst>
                </a:gridCol>
                <a:gridCol w="2880011">
                  <a:extLst>
                    <a:ext uri="{9D8B030D-6E8A-4147-A177-3AD203B41FA5}">
                      <a16:colId xmlns:a16="http://schemas.microsoft.com/office/drawing/2014/main" val="3594745868"/>
                    </a:ext>
                  </a:extLst>
                </a:gridCol>
              </a:tblGrid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Surface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STRIDE Category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OWASP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Threat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i="0" dirty="0">
                          <a:solidFill>
                            <a:schemeClr val="tx1"/>
                          </a:solidFill>
                          <a:effectLst/>
                        </a:rPr>
                        <a:t>Secure 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889321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Login Fields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Information Disclosur</a:t>
                      </a:r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</a:rPr>
                        <a:t>e</a:t>
                      </a:r>
                      <a:endParaRPr lang="en-US" sz="18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</a:rPr>
                        <a:t>A03: Injection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</a:rPr>
                        <a:t>Attacker uses ; or &lt;&gt; to run database commands or steal user data.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Input Scrubbing:</a:t>
                      </a:r>
                      <a:r>
                        <a:rPr lang="en-US" dirty="0"/>
                        <a:t> Regex removes illegal characters.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437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</a:rPr>
                        <a:t>Error Messages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dirty="0">
                          <a:solidFill>
                            <a:schemeClr val="tx1"/>
                          </a:solidFill>
                          <a:effectLst/>
                        </a:rPr>
                        <a:t>Information Disclosure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</a:rPr>
                        <a:t>A09:Security Logging/ Failures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Error messages reveal specific details about the database structure.</a:t>
                      </a:r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</a:rPr>
                        <a:t>​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Output Sanitization:</a:t>
                      </a:r>
                      <a:r>
                        <a:rPr lang="en-US" dirty="0"/>
                        <a:t> Vague "Invalid Login" messages to hide business logic.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29487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dirty="0"/>
                        <a:t>API Endpoints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dirty="0">
                          <a:solidFill>
                            <a:srgbClr val="000000"/>
                          </a:solidFill>
                          <a:effectLst/>
                        </a:rPr>
                        <a:t>Denial of Service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0" i="0" dirty="0">
                          <a:solidFill>
                            <a:srgbClr val="000000"/>
                          </a:solidFill>
                          <a:effectLst/>
                        </a:rPr>
                        <a:t>A04: Insecure Design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Flooding the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/login</a:t>
                      </a:r>
                      <a:r>
                        <a:rPr lang="en-US" dirty="0"/>
                        <a:t> route with thousands of requests to crash the server.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Rate Limiting:</a:t>
                      </a:r>
                      <a:r>
                        <a:rPr lang="en-US" dirty="0"/>
                        <a:t> 30-second lockout after 5 failed attempts.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715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2466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09027-6748-C5C9-1638-243D7E19E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26C547-A731-E5D0-AB52-43CA3E4B4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15" name="Title 10">
            <a:extLst>
              <a:ext uri="{FF2B5EF4-FFF2-40B4-BE49-F238E27FC236}">
                <a16:creationId xmlns:a16="http://schemas.microsoft.com/office/drawing/2014/main" id="{CB6C0BC4-9357-B71C-D5DA-7BADFFD58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1396" y="606863"/>
            <a:ext cx="7493437" cy="680761"/>
          </a:xfrm>
        </p:spPr>
        <p:txBody>
          <a:bodyPr>
            <a:normAutofit/>
          </a:bodyPr>
          <a:lstStyle/>
          <a:p>
            <a:r>
              <a:rPr lang="en-US" sz="2800" dirty="0"/>
              <a:t>Security Threat Surfaces</a:t>
            </a:r>
          </a:p>
        </p:txBody>
      </p:sp>
      <p:graphicFrame>
        <p:nvGraphicFramePr>
          <p:cNvPr id="16" name="Table Placeholder 13">
            <a:extLst>
              <a:ext uri="{FF2B5EF4-FFF2-40B4-BE49-F238E27FC236}">
                <a16:creationId xmlns:a16="http://schemas.microsoft.com/office/drawing/2014/main" id="{84E9B22A-1950-E4A0-CD75-117AE97CC7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96555127"/>
              </p:ext>
            </p:extLst>
          </p:nvPr>
        </p:nvGraphicFramePr>
        <p:xfrm>
          <a:off x="1081396" y="1287624"/>
          <a:ext cx="10666412" cy="4850447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1514374">
                  <a:extLst>
                    <a:ext uri="{9D8B030D-6E8A-4147-A177-3AD203B41FA5}">
                      <a16:colId xmlns:a16="http://schemas.microsoft.com/office/drawing/2014/main" val="4239035621"/>
                    </a:ext>
                  </a:extLst>
                </a:gridCol>
                <a:gridCol w="2070628">
                  <a:extLst>
                    <a:ext uri="{9D8B030D-6E8A-4147-A177-3AD203B41FA5}">
                      <a16:colId xmlns:a16="http://schemas.microsoft.com/office/drawing/2014/main" val="1645754944"/>
                    </a:ext>
                  </a:extLst>
                </a:gridCol>
                <a:gridCol w="1811202">
                  <a:extLst>
                    <a:ext uri="{9D8B030D-6E8A-4147-A177-3AD203B41FA5}">
                      <a16:colId xmlns:a16="http://schemas.microsoft.com/office/drawing/2014/main" val="4278473568"/>
                    </a:ext>
                  </a:extLst>
                </a:gridCol>
                <a:gridCol w="2390197">
                  <a:extLst>
                    <a:ext uri="{9D8B030D-6E8A-4147-A177-3AD203B41FA5}">
                      <a16:colId xmlns:a16="http://schemas.microsoft.com/office/drawing/2014/main" val="760742182"/>
                    </a:ext>
                  </a:extLst>
                </a:gridCol>
                <a:gridCol w="2880011">
                  <a:extLst>
                    <a:ext uri="{9D8B030D-6E8A-4147-A177-3AD203B41FA5}">
                      <a16:colId xmlns:a16="http://schemas.microsoft.com/office/drawing/2014/main" val="3594745868"/>
                    </a:ext>
                  </a:extLst>
                </a:gridCol>
              </a:tblGrid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Surface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STRIDE Category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OWASP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</a:rPr>
                        <a:t>Threat</a:t>
                      </a:r>
                      <a:endParaRPr lang="en-US" b="1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i="0" dirty="0">
                          <a:solidFill>
                            <a:schemeClr val="tx1"/>
                          </a:solidFill>
                          <a:effectLst/>
                        </a:rPr>
                        <a:t>Secure Solution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48889321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dirty="0"/>
                        <a:t>Password Logic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b="0" dirty="0"/>
                        <a:t>E</a:t>
                      </a:r>
                      <a:r>
                        <a:rPr lang="en-CA" dirty="0"/>
                        <a:t>levation of Privilege</a:t>
                      </a:r>
                      <a:endParaRPr lang="en-US" sz="1800" b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</a:rPr>
                        <a:t>A07: Ident. &amp; Auth. Failures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Using weak passwords or plain-text storage allows account takeover.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Complexity Rules:</a:t>
                      </a:r>
                      <a:r>
                        <a:rPr lang="en-US" dirty="0"/>
                        <a:t> 10 chars + 5 symbols; Password hashing before DB storage.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243768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dirty="0"/>
                        <a:t>User Session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b="0" dirty="0"/>
                        <a:t>T</a:t>
                      </a:r>
                      <a:r>
                        <a:rPr lang="en-CA" dirty="0"/>
                        <a:t>ampering</a:t>
                      </a:r>
                      <a:endParaRPr lang="en-US" b="0" i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rgbClr val="000000"/>
                          </a:solidFill>
                          <a:effectLst/>
                        </a:rPr>
                        <a:t>A01:Broken Access Control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User manually changes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localStorage</a:t>
                      </a:r>
                      <a:r>
                        <a:rPr lang="en-US" dirty="0"/>
                        <a:t> to "buy" games without paying.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Server-Side Validation:</a:t>
                      </a:r>
                      <a:r>
                        <a:rPr lang="en-US" dirty="0"/>
                        <a:t> The API/DB should verify ownership, not the browser.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3294875"/>
                  </a:ext>
                </a:extLst>
              </a:tr>
              <a:tr h="735647"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dirty="0"/>
                        <a:t>Registration Form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CA" b="0" dirty="0"/>
                        <a:t>S</a:t>
                      </a:r>
                      <a:r>
                        <a:rPr lang="en-CA" dirty="0"/>
                        <a:t>poofing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0" i="0" dirty="0">
                          <a:solidFill>
                            <a:schemeClr val="tx1"/>
                          </a:solidFill>
                          <a:effectLst/>
                        </a:rPr>
                        <a:t>A07: Ident. &amp; Auth. Failures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dirty="0"/>
                        <a:t>Creating fake accounts to flood the system with "Canadian" users for lower prices.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rtl="0" fontAlgn="base"/>
                      <a:r>
                        <a:rPr lang="en-US" b="1" dirty="0"/>
                        <a:t>Input Validation: </a:t>
                      </a:r>
                    </a:p>
                    <a:p>
                      <a:pPr algn="l" rtl="0" fontAlgn="base"/>
                      <a:r>
                        <a:rPr lang="en-US" dirty="0"/>
                        <a:t>Verifying email formats and restricting country options.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7156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6219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E15E7-1C8F-9247-47F9-A663AE8CE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F27D2-7FB2-6970-91C6-2EEFEF9E25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74771" y="576943"/>
            <a:ext cx="6449786" cy="2785508"/>
          </a:xfrm>
        </p:spPr>
        <p:txBody>
          <a:bodyPr>
            <a:normAutofit/>
          </a:bodyPr>
          <a:lstStyle/>
          <a:p>
            <a:r>
              <a:rPr lang="en-US" dirty="0"/>
              <a:t>Secure Coding Implementations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594AE-56F6-98D9-81C0-F2309D00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862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FEBD5-2149-1FD2-0734-59C4235AE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6DCBE87D-465F-3364-DA61-6A4DF5FE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2574" y="896111"/>
            <a:ext cx="9866540" cy="1358140"/>
          </a:xfrm>
        </p:spPr>
        <p:txBody>
          <a:bodyPr>
            <a:normAutofit/>
          </a:bodyPr>
          <a:lstStyle/>
          <a:p>
            <a:r>
              <a:rPr lang="en-US" dirty="0"/>
              <a:t>Final tips &amp; takeaways​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A792FA9-1C02-38A2-4A2C-46F96E8A18A9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/>
          <a:p>
            <a:r>
              <a:rPr lang="en-US" dirty="0"/>
              <a:t>Consistent rehearsal​</a:t>
            </a:r>
          </a:p>
          <a:p>
            <a:pPr lvl="1"/>
            <a:r>
              <a:rPr lang="en-US" dirty="0"/>
              <a:t>Practice makes perfect, so strengthen your familiarity with the presentation​</a:t>
            </a:r>
          </a:p>
          <a:p>
            <a:r>
              <a:rPr lang="en-US" dirty="0"/>
              <a:t>Refine delivery style​</a:t>
            </a:r>
          </a:p>
          <a:p>
            <a:pPr lvl="1"/>
            <a:r>
              <a:rPr lang="en-US" dirty="0"/>
              <a:t>Pacing, tone, and emphasis​</a:t>
            </a:r>
          </a:p>
          <a:p>
            <a:r>
              <a:rPr lang="en-US" dirty="0"/>
              <a:t>Timing and transitions​</a:t>
            </a:r>
          </a:p>
          <a:p>
            <a:pPr lvl="1"/>
            <a:r>
              <a:rPr lang="en-US" dirty="0"/>
              <a:t>Aim for seamless, professional delivery​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feedback​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2F933E6-C0E7-04F2-24FD-4F849A119F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/>
          <a:p>
            <a:r>
              <a:rPr lang="en-US" dirty="0"/>
              <a:t>Seek feedback​</a:t>
            </a:r>
          </a:p>
          <a:p>
            <a:r>
              <a:rPr lang="en-US" dirty="0"/>
              <a:t>Reflect on performance​</a:t>
            </a:r>
          </a:p>
          <a:p>
            <a:r>
              <a:rPr lang="en-US" dirty="0"/>
              <a:t>Explore new techniques​</a:t>
            </a:r>
          </a:p>
          <a:p>
            <a:r>
              <a:rPr lang="en-US" dirty="0"/>
              <a:t>Set personal goals​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66C9E9E-AF0F-A123-E0C3-E0AB0A5C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864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AB393-7EEE-63D0-71D4-168654899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A4DF8-CF4B-2B0C-EFAD-68E2F4A95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0440" y="896111"/>
            <a:ext cx="7889768" cy="2039341"/>
          </a:xfrm>
        </p:spPr>
        <p:txBody>
          <a:bodyPr/>
          <a:lstStyle/>
          <a:p>
            <a:r>
              <a:rPr lang="en-US" dirty="0"/>
              <a:t>Navigating Q&amp;A sessions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903C0CD-DFC0-136D-62F6-6EB4B6E0D28D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/>
          <a:p>
            <a:r>
              <a:rPr lang="en-US" dirty="0"/>
              <a:t>Know your material in advance​</a:t>
            </a:r>
          </a:p>
          <a:p>
            <a:r>
              <a:rPr lang="en-US" dirty="0"/>
              <a:t>Anticipate common </a:t>
            </a:r>
            <a:br>
              <a:rPr lang="en-US" dirty="0"/>
            </a:br>
            <a:r>
              <a:rPr lang="en-US" dirty="0"/>
              <a:t>questions​</a:t>
            </a:r>
          </a:p>
          <a:p>
            <a:r>
              <a:rPr lang="en-US" dirty="0"/>
              <a:t>Rehearse your responses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6E9A209-DC6B-AA19-7987-1435B5875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/>
          <a:p>
            <a:r>
              <a:rPr lang="en-US" dirty="0"/>
              <a:t>Maintaining composure during the Q&amp;A session is essential for projecting confidence and authority. Consider the following tips for staying composed:​</a:t>
            </a:r>
          </a:p>
          <a:p>
            <a:pPr lvl="1"/>
            <a:r>
              <a:rPr lang="en-US" dirty="0"/>
              <a:t>Stay calm​</a:t>
            </a:r>
          </a:p>
          <a:p>
            <a:pPr lvl="1"/>
            <a:r>
              <a:rPr lang="en-US" dirty="0"/>
              <a:t>Actively listen​</a:t>
            </a:r>
          </a:p>
          <a:p>
            <a:pPr lvl="1"/>
            <a:r>
              <a:rPr lang="en-US" dirty="0"/>
              <a:t>Pause and reflect​</a:t>
            </a:r>
          </a:p>
          <a:p>
            <a:pPr lvl="1"/>
            <a:r>
              <a:rPr lang="en-US" dirty="0"/>
              <a:t>Maintain eye contact</a:t>
            </a:r>
          </a:p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9001C64-764B-F79F-D465-859EE4764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66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245" y="544285"/>
            <a:ext cx="5528217" cy="2685383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96340" y="3423773"/>
            <a:ext cx="5528217" cy="2029969"/>
          </a:xfrm>
        </p:spPr>
        <p:txBody>
          <a:bodyPr bIns="0">
            <a:normAutofit/>
          </a:bodyPr>
          <a:lstStyle/>
          <a:p>
            <a:r>
              <a:rPr lang="en-US" dirty="0"/>
              <a:t>Eric Moutoux </a:t>
            </a:r>
          </a:p>
          <a:p>
            <a:r>
              <a:rPr lang="en-US" dirty="0"/>
              <a:t>Will Jessel</a:t>
            </a:r>
          </a:p>
          <a:p>
            <a:r>
              <a:rPr lang="en-US" dirty="0"/>
              <a:t>Zemmat Hagos</a:t>
            </a:r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4">
      <a:dk1>
        <a:sysClr val="windowText" lastClr="000000"/>
      </a:dk1>
      <a:lt1>
        <a:sysClr val="window" lastClr="FFFFFF"/>
      </a:lt1>
      <a:dk2>
        <a:srgbClr val="F8F0E3"/>
      </a:dk2>
      <a:lt2>
        <a:srgbClr val="E7E6E6"/>
      </a:lt2>
      <a:accent1>
        <a:srgbClr val="224E7F"/>
      </a:accent1>
      <a:accent2>
        <a:srgbClr val="385E88"/>
      </a:accent2>
      <a:accent3>
        <a:srgbClr val="AA2070"/>
      </a:accent3>
      <a:accent4>
        <a:srgbClr val="EC008C"/>
      </a:accent4>
      <a:accent5>
        <a:srgbClr val="582156"/>
      </a:accent5>
      <a:accent6>
        <a:srgbClr val="958EA2"/>
      </a:accent6>
      <a:hlink>
        <a:srgbClr val="0563C1"/>
      </a:hlink>
      <a:folHlink>
        <a:srgbClr val="954F72"/>
      </a:folHlink>
    </a:clrScheme>
    <a:fontScheme name="Custom 112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968143_Win32_SL_V3" id="{4DA6DF5E-F5DF-461D-8863-50E9C5721FD0}" vid="{BC6DDDB8-E14A-47D1-98C5-2C109624FD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F65614A-92F9-4391-AC3D-F3F5B0704F99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8451406B-581B-4C29-A833-E33D8A6AB07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8903D25-5BE2-4D9E-B7D8-BE1DCAE2DC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{AF7617A5-88DB-41F9-A404-847E3E9F9B2A}TF55c86556-70ea-476e-aa05-13a38f2d5b0da1381d77_win32-a3c664429073</Template>
  <TotalTime>65</TotalTime>
  <Words>794</Words>
  <Application>Microsoft Office PowerPoint</Application>
  <PresentationFormat>Widescreen</PresentationFormat>
  <Paragraphs>171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Avenir Next LT Pro</vt:lpstr>
      <vt:lpstr>Calibri</vt:lpstr>
      <vt:lpstr>Custom</vt:lpstr>
      <vt:lpstr>MIST By eric, will and zemmat</vt:lpstr>
      <vt:lpstr>Agenda</vt:lpstr>
      <vt:lpstr>Front-End</vt:lpstr>
      <vt:lpstr>Login form:</vt:lpstr>
      <vt:lpstr>Login form:</vt:lpstr>
      <vt:lpstr>Back-End</vt:lpstr>
      <vt:lpstr>Effective delivery techniques​</vt:lpstr>
      <vt:lpstr>Navigating Q&amp;A sessions</vt:lpstr>
      <vt:lpstr>Database</vt:lpstr>
      <vt:lpstr>Speaking impact​</vt:lpstr>
      <vt:lpstr>Dynamic delivery​</vt:lpstr>
      <vt:lpstr>Security Threat Surfaces</vt:lpstr>
      <vt:lpstr>Security Threat Surfaces</vt:lpstr>
      <vt:lpstr>Security Threat Surfaces</vt:lpstr>
      <vt:lpstr>Secure Coding Implementations</vt:lpstr>
      <vt:lpstr>Final tips &amp; takeaways​</vt:lpstr>
      <vt:lpstr>Navigating Q&amp;A sessions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 Jessel</dc:creator>
  <cp:lastModifiedBy>Will Jessel</cp:lastModifiedBy>
  <cp:revision>1</cp:revision>
  <dcterms:created xsi:type="dcterms:W3CDTF">2026-04-16T03:51:54Z</dcterms:created>
  <dcterms:modified xsi:type="dcterms:W3CDTF">2026-04-16T04:57:44Z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