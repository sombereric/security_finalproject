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93" r:id="rId13"/>
    <p:sldId id="262" r:id="rId14"/>
    <p:sldId id="292" r:id="rId15"/>
    <p:sldId id="294" r:id="rId16"/>
    <p:sldId id="279" r:id="rId17"/>
    <p:sldId id="298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48" d="100"/>
          <a:sy n="48" d="100"/>
        </p:scale>
        <p:origin x="67" y="68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6E4E6-1397-108D-D431-D68784FE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B51C6-9837-DD97-60C5-79F4917E4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59D2C-77F6-2609-00AE-383E5372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D222B-D6CD-9AE8-A22A-6D493EA0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1218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333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E687-7E75-110F-19E8-430F355C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A27CA-C1CB-708E-BEDC-A9FA9D892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D0707-576B-D27E-9E85-201479E70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79AD6F-41D2-E0DE-FD21-3061C54CB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740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91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03803-7239-3550-4D68-86551B8E5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B235F-4A5F-89D6-805D-53913F301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5489C-B758-C815-8649-60068673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4BBD4-75A5-459F-363C-ECFC652D9E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531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.svg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/>
              <a:t>MIST</a:t>
            </a:r>
            <a:br>
              <a:rPr lang="en-US" dirty="0"/>
            </a:br>
            <a:r>
              <a:rPr lang="en-US" sz="4000" dirty="0"/>
              <a:t>By eric, will and zemmat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668463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3300413"/>
            <a:ext cx="6338887" cy="26685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Front-End</a:t>
            </a:r>
          </a:p>
          <a:p>
            <a:r>
              <a:rPr lang="en-US" dirty="0"/>
              <a:t>Back-End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Security Threat Surfaces</a:t>
            </a:r>
          </a:p>
          <a:p>
            <a:r>
              <a:rPr lang="en-US" dirty="0"/>
              <a:t>Secure Coding Implementations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660358"/>
            <a:ext cx="6594768" cy="5537284"/>
          </a:xfrm>
        </p:spPr>
        <p:txBody>
          <a:bodyPr>
            <a:normAutofit/>
          </a:bodyPr>
          <a:lstStyle/>
          <a:p>
            <a:r>
              <a:rPr lang="en-US" dirty="0"/>
              <a:t>Front-End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89034" y="285706"/>
            <a:ext cx="2613931" cy="521395"/>
          </a:xfrm>
        </p:spPr>
        <p:txBody>
          <a:bodyPr>
            <a:noAutofit/>
          </a:bodyPr>
          <a:lstStyle/>
          <a:p>
            <a:r>
              <a:rPr lang="en-CA" sz="2800" b="0" dirty="0"/>
              <a:t>Login form: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9682" y="166806"/>
            <a:ext cx="2815674" cy="759196"/>
          </a:xfrm>
        </p:spPr>
        <p:txBody>
          <a:bodyPr/>
          <a:lstStyle/>
          <a:p>
            <a:r>
              <a:rPr lang="en-US" sz="2800" dirty="0"/>
              <a:t>SEARCH FORM:</a:t>
            </a:r>
            <a:endParaRPr lang="en-US" dirty="0"/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-43200" y="0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B36DA42-A547-F07F-C8F7-E98AF1454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0560" y="926002"/>
            <a:ext cx="3833773" cy="56543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70F6FD-2FE1-BA3D-DD5B-1F7267F1A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333" y="926002"/>
            <a:ext cx="4223760" cy="344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2485052" cy="456827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Login form: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9324" y="1352939"/>
            <a:ext cx="6597650" cy="2286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To ensure a secure authentication process, the login system employs comprehensive input scrubbing and output sanitization to defend against XSS and SQL injection. Additionally, integrated rate limiting protects the infrastructure from automated brute-force attacks.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B080DA-A3EF-EC26-C5CC-B25AE7768605}"/>
              </a:ext>
            </a:extLst>
          </p:cNvPr>
          <p:cNvSpPr txBox="1">
            <a:spLocks/>
          </p:cNvSpPr>
          <p:nvPr/>
        </p:nvSpPr>
        <p:spPr>
          <a:xfrm>
            <a:off x="762001" y="3638939"/>
            <a:ext cx="2485052" cy="4568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search form: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AC83FA-E57D-6AAA-AB7F-178F94F027E7}"/>
              </a:ext>
            </a:extLst>
          </p:cNvPr>
          <p:cNvSpPr txBox="1">
            <a:spLocks/>
          </p:cNvSpPr>
          <p:nvPr/>
        </p:nvSpPr>
        <p:spPr>
          <a:xfrm>
            <a:off x="829324" y="4095766"/>
            <a:ext cx="6597650" cy="228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search interface maintains rigorous security standards by employing input scrubbing and output sanitization. These layers effectively mitigate XSS and SQL injection risks, ensuring a secure user experience while maintaining high-speed search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Back-End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Effective delivery techniques​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Voice modulation is a powerful tool in public speaking. It involves varying pitch, tone, and volume to convey emotion, emphasize points, and maintain interest:</a:t>
            </a:r>
          </a:p>
          <a:p>
            <a:pPr lvl="1"/>
            <a:r>
              <a:rPr lang="en-US" dirty="0"/>
              <a:t>Pitch variation​</a:t>
            </a:r>
          </a:p>
          <a:p>
            <a:pPr lvl="1"/>
            <a:r>
              <a:rPr lang="en-US" dirty="0"/>
              <a:t>Tone inflection​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0440" y="896111"/>
            <a:ext cx="7889768" cy="2039341"/>
          </a:xfrm>
        </p:spPr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/>
          <a:p>
            <a:r>
              <a:rPr lang="en-US" dirty="0"/>
              <a:t>Know your material in advance​</a:t>
            </a:r>
          </a:p>
          <a:p>
            <a:r>
              <a:rPr lang="en-US" dirty="0"/>
              <a:t>Anticipate common </a:t>
            </a:r>
            <a:br>
              <a:rPr lang="en-US" dirty="0"/>
            </a:br>
            <a:r>
              <a:rPr lang="en-US" dirty="0"/>
              <a:t>questions​</a:t>
            </a:r>
          </a:p>
          <a:p>
            <a:r>
              <a:rPr lang="en-US" dirty="0"/>
              <a:t>Rehearse your responses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92136-277B-808E-9D1B-052735920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 session is essential for projecting confidence and authority. Consider the following tips for staying composed:​</a:t>
            </a:r>
          </a:p>
          <a:p>
            <a:pPr lvl="1"/>
            <a:r>
              <a:rPr lang="en-US" dirty="0"/>
              <a:t>Stay calm​</a:t>
            </a:r>
          </a:p>
          <a:p>
            <a:pPr lvl="1"/>
            <a:r>
              <a:rPr lang="en-US" dirty="0"/>
              <a:t>Actively listen​</a:t>
            </a:r>
          </a:p>
          <a:p>
            <a:pPr lvl="1"/>
            <a:r>
              <a:rPr lang="en-US" dirty="0"/>
              <a:t>Pause and reflect​</a:t>
            </a:r>
          </a:p>
          <a:p>
            <a:pPr lvl="1"/>
            <a:r>
              <a:rPr lang="en-US" dirty="0"/>
              <a:t>Maintain eye contact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F0CC-B03D-58F7-77E7-67F3C469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B9C2D-872B-B203-CF3C-1CAE3532A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B9006-48EF-7CB2-B7C9-FBE52B52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118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7877" y="898524"/>
            <a:ext cx="7606895" cy="2029967"/>
          </a:xfrm>
        </p:spPr>
        <p:txBody>
          <a:bodyPr/>
          <a:lstStyle/>
          <a:p>
            <a:r>
              <a:rPr lang="en-US" dirty="0"/>
              <a:t>Speaking impact​</a:t>
            </a:r>
          </a:p>
        </p:txBody>
      </p:sp>
      <p:pic>
        <p:nvPicPr>
          <p:cNvPr id="14" name="Picture Placeholder 13" descr="Woman walking in office">
            <a:extLst>
              <a:ext uri="{FF2B5EF4-FFF2-40B4-BE49-F238E27FC236}">
                <a16:creationId xmlns:a16="http://schemas.microsoft.com/office/drawing/2014/main" id="{206549BD-D8AF-D3BE-750E-5F8C50CCB5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35913" r="35913"/>
          <a:stretch/>
        </p:blipFill>
        <p:spPr>
          <a:xfrm>
            <a:off x="1011337" y="9212"/>
            <a:ext cx="2029967" cy="485054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441910-6501-5C60-C05A-BAFF34C2579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/>
          <a:p>
            <a:r>
              <a:rPr lang="en-US" dirty="0"/>
              <a:t>Your ability to communicate effectively will leave a lasting impact on your audience​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1C668341-39BE-4448-B29D-2594AE6D7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1853" y="2682814"/>
            <a:ext cx="274320" cy="2743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31C374B-40F2-4B1E-A9D8-6E5C932F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2824876"/>
            <a:ext cx="2011680" cy="7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32C7587B-DD64-0940-2F6D-21C5F453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/>
              <a:t>Dynamic delivery​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2417197"/>
            <a:ext cx="4278313" cy="3737541"/>
          </a:xfrm>
        </p:spPr>
        <p:txBody>
          <a:bodyPr/>
          <a:lstStyle/>
          <a:p>
            <a:r>
              <a:rPr lang="en-US" dirty="0"/>
              <a:t>Learn to infuse energy into your delivery to leave a lasting impression​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24EE9911-8AC9-5BE2-4456-0175FD28D0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554612853"/>
              </p:ext>
            </p:extLst>
          </p:nvPr>
        </p:nvGraphicFramePr>
        <p:xfrm>
          <a:off x="5241925" y="2417763"/>
          <a:ext cx="6188076" cy="367823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695814">
                  <a:extLst>
                    <a:ext uri="{9D8B030D-6E8A-4147-A177-3AD203B41FA5}">
                      <a16:colId xmlns:a16="http://schemas.microsoft.com/office/drawing/2014/main" val="248340271"/>
                    </a:ext>
                  </a:extLst>
                </a:gridCol>
                <a:gridCol w="2052644">
                  <a:extLst>
                    <a:ext uri="{9D8B030D-6E8A-4147-A177-3AD203B41FA5}">
                      <a16:colId xmlns:a16="http://schemas.microsoft.com/office/drawing/2014/main" val="2825265259"/>
                    </a:ext>
                  </a:extLst>
                </a:gridCol>
                <a:gridCol w="1233830">
                  <a:extLst>
                    <a:ext uri="{9D8B030D-6E8A-4147-A177-3AD203B41FA5}">
                      <a16:colId xmlns:a16="http://schemas.microsoft.com/office/drawing/2014/main" val="207959087"/>
                    </a:ext>
                  </a:extLst>
                </a:gridCol>
                <a:gridCol w="1205788">
                  <a:extLst>
                    <a:ext uri="{9D8B030D-6E8A-4147-A177-3AD203B41FA5}">
                      <a16:colId xmlns:a16="http://schemas.microsoft.com/office/drawing/2014/main" val="3104692732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Metric​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Measurement​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Target​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Actual​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3844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Audience 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</a:b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attendance​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# of attendees​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150​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120​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559787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Engagement duration​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Minutes​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60​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75​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3674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Q&amp;A interaction​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# of questions​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15​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991020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Positive </a:t>
                      </a:r>
                      <a:b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</a:br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feedback​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Percentage (%)​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90​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ysClr val="windowText" lastClr="000000"/>
                          </a:solidFill>
                          <a:effectLst/>
                        </a:rPr>
                        <a:t>95​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9432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2DD9F-4725-4C58-FC40-2A8AB77A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5F0D-D10E-8672-16D5-70BB4B49A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4771" y="576943"/>
            <a:ext cx="6449786" cy="2785508"/>
          </a:xfrm>
        </p:spPr>
        <p:txBody>
          <a:bodyPr>
            <a:normAutofit/>
          </a:bodyPr>
          <a:lstStyle/>
          <a:p>
            <a:r>
              <a:rPr lang="en-US" dirty="0"/>
              <a:t>Security Threat Surfaces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A8F7-2FF6-73E7-9E54-7A8873AB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589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40B739-30F9-C86F-67ED-2197DC1E5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C4A561EA-F53E-EAE7-2A51-D0318C1F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396" y="606863"/>
            <a:ext cx="7493437" cy="680761"/>
          </a:xfrm>
        </p:spPr>
        <p:txBody>
          <a:bodyPr>
            <a:normAutofit/>
          </a:bodyPr>
          <a:lstStyle/>
          <a:p>
            <a:r>
              <a:rPr lang="en-US" sz="2800" dirty="0"/>
              <a:t>Security Threat Surfaces</a:t>
            </a:r>
          </a:p>
        </p:txBody>
      </p:sp>
      <p:graphicFrame>
        <p:nvGraphicFramePr>
          <p:cNvPr id="16" name="Table Placeholder 13">
            <a:extLst>
              <a:ext uri="{FF2B5EF4-FFF2-40B4-BE49-F238E27FC236}">
                <a16:creationId xmlns:a16="http://schemas.microsoft.com/office/drawing/2014/main" id="{D361AA6B-EF42-2B55-F8D5-CC740D5B44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88160"/>
              </p:ext>
            </p:extLst>
          </p:nvPr>
        </p:nvGraphicFramePr>
        <p:xfrm>
          <a:off x="1081396" y="1287624"/>
          <a:ext cx="10666412" cy="430180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14374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2070628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1811202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2390197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  <a:gridCol w="2880011">
                  <a:extLst>
                    <a:ext uri="{9D8B030D-6E8A-4147-A177-3AD203B41FA5}">
                      <a16:colId xmlns:a16="http://schemas.microsoft.com/office/drawing/2014/main" val="3594745868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Surface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STRIDE Category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OWASP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Threat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</a:rPr>
                        <a:t>Secure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Login Fields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Information Disclosur</a:t>
                      </a:r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A03: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solidFill>
                            <a:schemeClr val="tx1"/>
                          </a:solidFill>
                          <a:effectLst/>
                        </a:rPr>
                        <a:t>Attacker uses ; or &lt;&gt; to run database commands or steal user data.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Input Scrubbing:</a:t>
                      </a:r>
                      <a:r>
                        <a:rPr lang="en-US" dirty="0"/>
                        <a:t> Regex removes illegal characters.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</a:rPr>
                        <a:t>Error Messages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Information Disclosure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A09:Security Logging/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Error messages reveal specific details about the database structure.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Output Sanitization:</a:t>
                      </a:r>
                      <a:r>
                        <a:rPr lang="en-US" dirty="0"/>
                        <a:t> Vague "Invalid Login" messages to hide business logic.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API Endpoints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dirty="0">
                          <a:solidFill>
                            <a:srgbClr val="000000"/>
                          </a:solidFill>
                          <a:effectLst/>
                        </a:rPr>
                        <a:t>Denial of Service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</a:rPr>
                        <a:t>A04: Insecure Design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Flooding the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/login</a:t>
                      </a:r>
                      <a:r>
                        <a:rPr lang="en-US" dirty="0"/>
                        <a:t> route with thousands of requests to crash the server.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Rate Limiting:</a:t>
                      </a:r>
                      <a:r>
                        <a:rPr lang="en-US" dirty="0"/>
                        <a:t> 30-second lockout after 5 failed attempts.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2466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09027-6748-C5C9-1638-243D7E19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26C547-A731-E5D0-AB52-43CA3E4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CB6C0BC4-9357-B71C-D5DA-7BADFFD58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396" y="606863"/>
            <a:ext cx="7493437" cy="680761"/>
          </a:xfrm>
        </p:spPr>
        <p:txBody>
          <a:bodyPr>
            <a:normAutofit/>
          </a:bodyPr>
          <a:lstStyle/>
          <a:p>
            <a:r>
              <a:rPr lang="en-US" sz="2800" dirty="0"/>
              <a:t>Security Threat Surfaces</a:t>
            </a:r>
          </a:p>
        </p:txBody>
      </p:sp>
      <p:graphicFrame>
        <p:nvGraphicFramePr>
          <p:cNvPr id="16" name="Table Placeholder 13">
            <a:extLst>
              <a:ext uri="{FF2B5EF4-FFF2-40B4-BE49-F238E27FC236}">
                <a16:creationId xmlns:a16="http://schemas.microsoft.com/office/drawing/2014/main" id="{84E9B22A-1950-E4A0-CD75-117AE97CC7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6555127"/>
              </p:ext>
            </p:extLst>
          </p:nvPr>
        </p:nvGraphicFramePr>
        <p:xfrm>
          <a:off x="1081396" y="1287624"/>
          <a:ext cx="10666412" cy="485044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14374">
                  <a:extLst>
                    <a:ext uri="{9D8B030D-6E8A-4147-A177-3AD203B41FA5}">
                      <a16:colId xmlns:a16="http://schemas.microsoft.com/office/drawing/2014/main" val="4239035621"/>
                    </a:ext>
                  </a:extLst>
                </a:gridCol>
                <a:gridCol w="2070628">
                  <a:extLst>
                    <a:ext uri="{9D8B030D-6E8A-4147-A177-3AD203B41FA5}">
                      <a16:colId xmlns:a16="http://schemas.microsoft.com/office/drawing/2014/main" val="1645754944"/>
                    </a:ext>
                  </a:extLst>
                </a:gridCol>
                <a:gridCol w="1811202">
                  <a:extLst>
                    <a:ext uri="{9D8B030D-6E8A-4147-A177-3AD203B41FA5}">
                      <a16:colId xmlns:a16="http://schemas.microsoft.com/office/drawing/2014/main" val="4278473568"/>
                    </a:ext>
                  </a:extLst>
                </a:gridCol>
                <a:gridCol w="2390197">
                  <a:extLst>
                    <a:ext uri="{9D8B030D-6E8A-4147-A177-3AD203B41FA5}">
                      <a16:colId xmlns:a16="http://schemas.microsoft.com/office/drawing/2014/main" val="760742182"/>
                    </a:ext>
                  </a:extLst>
                </a:gridCol>
                <a:gridCol w="2880011">
                  <a:extLst>
                    <a:ext uri="{9D8B030D-6E8A-4147-A177-3AD203B41FA5}">
                      <a16:colId xmlns:a16="http://schemas.microsoft.com/office/drawing/2014/main" val="3594745868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Surface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STRIDE Category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OWASP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Threat</a:t>
                      </a:r>
                      <a:endParaRPr lang="en-US" b="1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</a:rPr>
                        <a:t>Secure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893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Password Logic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b="0" dirty="0"/>
                        <a:t>E</a:t>
                      </a:r>
                      <a:r>
                        <a:rPr lang="en-CA" dirty="0"/>
                        <a:t>levation of Privilege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A07: Ident. &amp; Auth.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Using weak passwords or plain-text storage allows account takeover.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Complexity Rules:</a:t>
                      </a:r>
                      <a:r>
                        <a:rPr lang="en-US" dirty="0"/>
                        <a:t> 10 chars + 5 symbols; Password hashing before DB storage.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243768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User Session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b="0" dirty="0"/>
                        <a:t>T</a:t>
                      </a:r>
                      <a:r>
                        <a:rPr lang="en-CA" dirty="0"/>
                        <a:t>ampering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rgbClr val="000000"/>
                          </a:solidFill>
                          <a:effectLst/>
                        </a:rPr>
                        <a:t>A01:Broken 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User manually changes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localStorage</a:t>
                      </a:r>
                      <a:r>
                        <a:rPr lang="en-US" dirty="0"/>
                        <a:t> to "buy" games without paying.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Server-Side Validation:</a:t>
                      </a:r>
                      <a:r>
                        <a:rPr lang="en-US" dirty="0"/>
                        <a:t> The API/DB should verify ownership, not the browser.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4875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dirty="0"/>
                        <a:t>Registration Form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CA" b="0" dirty="0"/>
                        <a:t>S</a:t>
                      </a:r>
                      <a:r>
                        <a:rPr lang="en-CA" dirty="0"/>
                        <a:t>poofing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</a:rPr>
                        <a:t>A07: Ident. &amp; Auth. Failures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dirty="0"/>
                        <a:t>Creating fake accounts to flood the system with "Canadian" users for lower prices.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b="1" dirty="0"/>
                        <a:t>Input Validation: </a:t>
                      </a:r>
                    </a:p>
                    <a:p>
                      <a:pPr algn="l" rtl="0" fontAlgn="base"/>
                      <a:r>
                        <a:rPr lang="en-US" dirty="0"/>
                        <a:t>Verifying email formats and restricting country options.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6715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219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Eric Moutoux </a:t>
            </a:r>
          </a:p>
          <a:p>
            <a:r>
              <a:rPr lang="en-US" dirty="0"/>
              <a:t>Will Jessel</a:t>
            </a:r>
          </a:p>
          <a:p>
            <a:r>
              <a:rPr lang="en-US" dirty="0"/>
              <a:t>Zemmat Hagos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{AF7617A5-88DB-41F9-A404-847E3E9F9B2A}TF55c86556-70ea-476e-aa05-13a38f2d5b0da1381d77_win32-a3c664429073</Template>
  <TotalTime>79</TotalTime>
  <Words>616</Words>
  <Application>Microsoft Office PowerPoint</Application>
  <PresentationFormat>Widescreen</PresentationFormat>
  <Paragraphs>135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Avenir Next LT Pro</vt:lpstr>
      <vt:lpstr>Calibri</vt:lpstr>
      <vt:lpstr>Custom</vt:lpstr>
      <vt:lpstr>MIST By eric, will and zemmat</vt:lpstr>
      <vt:lpstr>Agenda</vt:lpstr>
      <vt:lpstr>Front-End</vt:lpstr>
      <vt:lpstr>Login form:</vt:lpstr>
      <vt:lpstr>Login form:</vt:lpstr>
      <vt:lpstr>Back-End</vt:lpstr>
      <vt:lpstr>Effective delivery techniques​</vt:lpstr>
      <vt:lpstr>Navigating Q&amp;A sessions</vt:lpstr>
      <vt:lpstr>Database</vt:lpstr>
      <vt:lpstr>Speaking impact​</vt:lpstr>
      <vt:lpstr>Dynamic delivery​</vt:lpstr>
      <vt:lpstr>Security Threat Surfaces</vt:lpstr>
      <vt:lpstr>Security Threat Surfaces</vt:lpstr>
      <vt:lpstr>Security Threat Surfaces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Jessel</dc:creator>
  <cp:lastModifiedBy>Will Jessel</cp:lastModifiedBy>
  <cp:revision>2</cp:revision>
  <dcterms:created xsi:type="dcterms:W3CDTF">2026-04-16T03:51:54Z</dcterms:created>
  <dcterms:modified xsi:type="dcterms:W3CDTF">2026-04-16T17:19:35Z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